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6" r:id="rId11"/>
    <p:sldId id="265"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1" d="100"/>
          <a:sy n="81" d="100"/>
        </p:scale>
        <p:origin x="754"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3">
        <a:schemeClr val="bg2"/>
      </p:bgRef>
    </p:bg>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3962399" y="1964267"/>
            <a:ext cx="7197726" cy="2421464"/>
          </a:xfrm>
        </p:spPr>
        <p:txBody>
          <a:bodyPr anchor="b">
            <a:normAutofit/>
          </a:bodyPr>
          <a:lstStyle>
            <a:lvl1pPr algn="r">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3962399" y="4385732"/>
            <a:ext cx="7197726" cy="1405467"/>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8932558" y="5870575"/>
            <a:ext cx="1600200" cy="377825"/>
          </a:xfrm>
        </p:spPr>
        <p:txBody>
          <a:bodyPr/>
          <a:lstStyle/>
          <a:p>
            <a:fld id="{B61BEF0D-F0BB-DE4B-95CE-6DB70DBA9567}" type="datetimeFigureOut">
              <a:rPr lang="en-US" dirty="0"/>
              <a:pPr/>
              <a:t>9/12/2025</a:t>
            </a:fld>
            <a:endParaRPr lang="en-US" dirty="0"/>
          </a:p>
        </p:txBody>
      </p:sp>
      <p:sp>
        <p:nvSpPr>
          <p:cNvPr id="5" name="Footer Placeholder 4"/>
          <p:cNvSpPr>
            <a:spLocks noGrp="1"/>
          </p:cNvSpPr>
          <p:nvPr>
            <p:ph type="ftr" sz="quarter" idx="11"/>
          </p:nvPr>
        </p:nvSpPr>
        <p:spPr>
          <a:xfrm>
            <a:off x="3962399" y="5870575"/>
            <a:ext cx="4893958" cy="377825"/>
          </a:xfrm>
        </p:spPr>
        <p:txBody>
          <a:bodyPr/>
          <a:lstStyle/>
          <a:p>
            <a:endParaRPr lang="en-US" dirty="0"/>
          </a:p>
        </p:txBody>
      </p:sp>
      <p:sp>
        <p:nvSpPr>
          <p:cNvPr id="6" name="Slide Number Placeholder 5"/>
          <p:cNvSpPr>
            <a:spLocks noGrp="1"/>
          </p:cNvSpPr>
          <p:nvPr>
            <p:ph type="sldNum" sz="quarter" idx="12"/>
          </p:nvPr>
        </p:nvSpPr>
        <p:spPr>
          <a:xfrm>
            <a:off x="10608958" y="5870575"/>
            <a:ext cx="551167" cy="377825"/>
          </a:xfrm>
        </p:spPr>
        <p:txBody>
          <a:bodyPr/>
          <a:lstStyle/>
          <a:p>
            <a:fld id="{D57F1E4F-1CFF-5643-939E-217C01CDF565}" type="slidenum">
              <a:rPr lang="en-US" dirty="0"/>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9/12/2025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3308581"/>
            <a:ext cx="10131427" cy="1468800"/>
          </a:xfrm>
        </p:spPr>
        <p:txBody>
          <a:bodyPr anchor="b"/>
          <a:lstStyle>
            <a:lvl1pPr algn="l">
              <a:defRPr sz="4000" b="0" cap="all"/>
            </a:lvl1pPr>
          </a:lstStyle>
          <a:p>
            <a:r>
              <a:rPr lang="en-US"/>
              <a:t>Click to edit Master title style</a:t>
            </a:r>
            <a:endParaRPr lang="en-US" dirty="0"/>
          </a:p>
        </p:txBody>
      </p:sp>
      <p:sp>
        <p:nvSpPr>
          <p:cNvPr id="3" name="Text Placeholder 2"/>
          <p:cNvSpPr>
            <a:spLocks noGrp="1"/>
          </p:cNvSpPr>
          <p:nvPr>
            <p:ph type="body" idx="1"/>
          </p:nvPr>
        </p:nvSpPr>
        <p:spPr>
          <a:xfrm>
            <a:off x="685799" y="4777381"/>
            <a:ext cx="10131428" cy="860400"/>
          </a:xfrm>
        </p:spPr>
        <p:txBody>
          <a:bodyPr anchor="t">
            <a:normAutofit/>
          </a:bodyPr>
          <a:lstStyle>
            <a:lvl1pPr marL="0" indent="0" algn="l">
              <a:buNone/>
              <a:defRPr sz="20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9/12/2025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2" y="2142067"/>
            <a:ext cx="4995334" cy="364913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21895" y="2142067"/>
            <a:ext cx="4995332" cy="364913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9/12/2025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3670" y="2218267"/>
            <a:ext cx="4709054"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1" y="2870201"/>
            <a:ext cx="4996923"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96003" y="2226734"/>
            <a:ext cx="4722813"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23483" y="2870201"/>
            <a:ext cx="4995334"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9/12/2025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9/12/2025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Date Placeholder 1"/>
          <p:cNvSpPr>
            <a:spLocks noGrp="1"/>
          </p:cNvSpPr>
          <p:nvPr>
            <p:ph type="dt" sz="half" idx="10"/>
          </p:nvPr>
        </p:nvSpPr>
        <p:spPr/>
        <p:txBody>
          <a:bodyPr/>
          <a:lstStyle/>
          <a:p>
            <a:fld id="{B61BEF0D-F0BB-DE4B-95CE-6DB70DBA9567}" type="datetimeFigureOut">
              <a:rPr lang="en-US" dirty="0"/>
              <a:pPr/>
              <a:t>9/12/2025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2074333"/>
            <a:ext cx="3680885"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648201" y="609601"/>
            <a:ext cx="6169026" cy="5181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445933"/>
            <a:ext cx="3680885" cy="1828800"/>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9/12/2025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1600200"/>
            <a:ext cx="6164653" cy="13716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36253" y="914400"/>
            <a:ext cx="3280974"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2971800"/>
            <a:ext cx="6164653" cy="1828800"/>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9/12/2025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4732865"/>
            <a:ext cx="1013142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371600" y="932112"/>
            <a:ext cx="8759827"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5299603"/>
            <a:ext cx="10131427" cy="49371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9/12/2025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3124199"/>
          </a:xfrm>
        </p:spPr>
        <p:txBody>
          <a:bodyPr anchor="ctr">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0" y="4343400"/>
            <a:ext cx="10131428"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9/12/2025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6" name="Picture 1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5" name="TextBox 14"/>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1" name="TextBox 10"/>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097875" y="3352800"/>
            <a:ext cx="9339184"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87465" y="4343400"/>
            <a:ext cx="10152367"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9/12/2025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2" y="3308581"/>
            <a:ext cx="10131425"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1" y="4777381"/>
            <a:ext cx="10131426"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9/12/2025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5800" y="3886200"/>
            <a:ext cx="10135436" cy="889000"/>
          </a:xfrm>
        </p:spPr>
        <p:txBody>
          <a:bodyPr vert="horz" lIns="91440" tIns="45720" rIns="91440" bIns="45720" rtlCol="0" anchor="b">
            <a:normAutofit/>
          </a:bodyPr>
          <a:lstStyle>
            <a:lvl1pP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799" y="4775200"/>
            <a:ext cx="10135436" cy="10160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9/12/2025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2743199"/>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5801" y="3505200"/>
            <a:ext cx="10131428"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800" y="4343400"/>
            <a:ext cx="10131428"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9/12/2025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9/12/2025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8" name="Title 1"/>
          <p:cNvSpPr>
            <a:spLocks noGrp="1"/>
          </p:cNvSpPr>
          <p:nvPr>
            <p:ph type="title"/>
          </p:nvPr>
        </p:nvSpPr>
        <p:spPr>
          <a:xfrm>
            <a:off x="685801" y="609600"/>
            <a:ext cx="10131425" cy="1456267"/>
          </a:xfrm>
        </p:spPr>
        <p:txBody>
          <a:bodyPr/>
          <a:lstStyle/>
          <a:p>
            <a:r>
              <a:rPr lang="en-US"/>
              <a:t>Click to edit Master title style</a:t>
            </a:r>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Vertical Title 1"/>
          <p:cNvSpPr>
            <a:spLocks noGrp="1"/>
          </p:cNvSpPr>
          <p:nvPr>
            <p:ph type="title" orient="vert"/>
          </p:nvPr>
        </p:nvSpPr>
        <p:spPr>
          <a:xfrm>
            <a:off x="8658675" y="609599"/>
            <a:ext cx="2158552"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09600"/>
            <a:ext cx="7832116" cy="5181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9/12/2025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1" y="609600"/>
            <a:ext cx="10131425" cy="14562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1" y="2142067"/>
            <a:ext cx="10131425" cy="3649133"/>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89660" y="5870575"/>
            <a:ext cx="1600200"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1BEF0D-F0BB-DE4B-95CE-6DB70DBA9567}" type="datetimeFigureOut">
              <a:rPr lang="en-US" dirty="0"/>
              <a:pPr/>
              <a:t>9/12/2025</a:t>
            </a:fld>
            <a:endParaRPr lang="en-US" dirty="0"/>
          </a:p>
        </p:txBody>
      </p:sp>
      <p:sp>
        <p:nvSpPr>
          <p:cNvPr id="5" name="Footer Placeholder 4"/>
          <p:cNvSpPr>
            <a:spLocks noGrp="1"/>
          </p:cNvSpPr>
          <p:nvPr>
            <p:ph type="ftr" sz="quarter" idx="3"/>
          </p:nvPr>
        </p:nvSpPr>
        <p:spPr>
          <a:xfrm>
            <a:off x="685800" y="5870575"/>
            <a:ext cx="7827659"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266060" y="5870575"/>
            <a:ext cx="551167"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57F1E4F-1CFF-5643-939E-217C01CDF56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0" r:id="rId9"/>
    <p:sldLayoutId id="2147483657" r:id="rId10"/>
    <p:sldLayoutId id="2147483663" r:id="rId11"/>
    <p:sldLayoutId id="2147483664" r:id="rId12"/>
    <p:sldLayoutId id="2147483665" r:id="rId13"/>
    <p:sldLayoutId id="2147483668" r:id="rId14"/>
    <p:sldLayoutId id="2147483667" r:id="rId15"/>
    <p:sldLayoutId id="2147483658" r:id="rId16"/>
    <p:sldLayoutId id="2147483659"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2A4860F-3310-668A-1EF6-F64AB9C6FE82}"/>
              </a:ext>
            </a:extLst>
          </p:cNvPr>
          <p:cNvSpPr>
            <a:spLocks noGrp="1"/>
          </p:cNvSpPr>
          <p:nvPr>
            <p:ph type="title"/>
          </p:nvPr>
        </p:nvSpPr>
        <p:spPr>
          <a:xfrm>
            <a:off x="1140541" y="1396181"/>
            <a:ext cx="10776155" cy="669686"/>
          </a:xfrm>
        </p:spPr>
        <p:txBody>
          <a:bodyPr>
            <a:normAutofit fontScale="90000"/>
          </a:bodyPr>
          <a:lstStyle/>
          <a:p>
            <a:pPr algn="ctr"/>
            <a:r>
              <a:rPr lang="en-US" dirty="0"/>
              <a:t> </a:t>
            </a:r>
            <a:r>
              <a:rPr lang="en-US" sz="3100" dirty="0"/>
              <a:t>NAAC ACCREDITED &amp; ISO 9001:2015 CERTIFIED Institute </a:t>
            </a:r>
            <a:br>
              <a:rPr lang="en-US" dirty="0"/>
            </a:br>
            <a:r>
              <a:rPr lang="en-US" sz="2200" dirty="0"/>
              <a:t>  VVP INSTITUTE OF ENGINEERING &amp; TECHNOLOGY, SOLAPUR</a:t>
            </a:r>
            <a:br>
              <a:rPr lang="en-US" sz="2200" dirty="0"/>
            </a:br>
            <a:r>
              <a:rPr lang="en-US" sz="2200" dirty="0"/>
              <a:t>  (Approved by AICTE, DTE, Mumbai &amp; Affiliated to Dbatu ,Lonare)</a:t>
            </a:r>
            <a:br>
              <a:rPr lang="en-US" sz="2200" dirty="0"/>
            </a:br>
            <a:r>
              <a:rPr lang="en-US" dirty="0"/>
              <a:t>     </a:t>
            </a:r>
            <a:endParaRPr lang="en-IN" dirty="0"/>
          </a:p>
        </p:txBody>
      </p:sp>
      <p:sp>
        <p:nvSpPr>
          <p:cNvPr id="5" name="Content Placeholder 4">
            <a:extLst>
              <a:ext uri="{FF2B5EF4-FFF2-40B4-BE49-F238E27FC236}">
                <a16:creationId xmlns:a16="http://schemas.microsoft.com/office/drawing/2014/main" id="{DF8297EE-CD62-EDB5-F3DC-ECF1D4EF9123}"/>
              </a:ext>
            </a:extLst>
          </p:cNvPr>
          <p:cNvSpPr>
            <a:spLocks noGrp="1"/>
          </p:cNvSpPr>
          <p:nvPr>
            <p:ph idx="1"/>
          </p:nvPr>
        </p:nvSpPr>
        <p:spPr>
          <a:xfrm>
            <a:off x="685801" y="2065867"/>
            <a:ext cx="10131425" cy="4167785"/>
          </a:xfrm>
        </p:spPr>
        <p:txBody>
          <a:bodyPr>
            <a:noAutofit/>
          </a:bodyPr>
          <a:lstStyle/>
          <a:p>
            <a:pPr marL="0" indent="0" algn="ctr">
              <a:buNone/>
            </a:pPr>
            <a:endParaRPr lang="en-US" sz="2400" b="1" dirty="0"/>
          </a:p>
          <a:p>
            <a:pPr marL="0" indent="0" algn="ctr">
              <a:buNone/>
            </a:pPr>
            <a:br>
              <a:rPr lang="en-US" sz="2400" dirty="0"/>
            </a:br>
            <a:r>
              <a:rPr lang="en-US" sz="2400" dirty="0"/>
              <a:t>                                     </a:t>
            </a:r>
            <a:br>
              <a:rPr lang="en-US" sz="2400" dirty="0"/>
            </a:br>
            <a:br>
              <a:rPr lang="en-US" sz="2400" dirty="0"/>
            </a:br>
            <a:br>
              <a:rPr lang="en-US" sz="2400" dirty="0"/>
            </a:br>
            <a:endParaRPr lang="en-IN" sz="2400" dirty="0"/>
          </a:p>
        </p:txBody>
      </p:sp>
      <p:pic>
        <p:nvPicPr>
          <p:cNvPr id="6" name="image2.jpeg">
            <a:extLst>
              <a:ext uri="{FF2B5EF4-FFF2-40B4-BE49-F238E27FC236}">
                <a16:creationId xmlns:a16="http://schemas.microsoft.com/office/drawing/2014/main" id="{8075B76E-EDF3-2A4B-5FC1-EC4C573AF2FA}"/>
              </a:ext>
            </a:extLst>
          </p:cNvPr>
          <p:cNvPicPr>
            <a:picLocks noChangeAspect="1"/>
          </p:cNvPicPr>
          <p:nvPr/>
        </p:nvPicPr>
        <p:blipFill>
          <a:blip r:embed="rId2" cstate="print"/>
          <a:stretch>
            <a:fillRect/>
          </a:stretch>
        </p:blipFill>
        <p:spPr>
          <a:xfrm>
            <a:off x="145216" y="457199"/>
            <a:ext cx="1731710" cy="1612232"/>
          </a:xfrm>
          <a:prstGeom prst="rect">
            <a:avLst/>
          </a:prstGeom>
        </p:spPr>
      </p:pic>
      <p:sp>
        <p:nvSpPr>
          <p:cNvPr id="8" name="TextBox 7">
            <a:extLst>
              <a:ext uri="{FF2B5EF4-FFF2-40B4-BE49-F238E27FC236}">
                <a16:creationId xmlns:a16="http://schemas.microsoft.com/office/drawing/2014/main" id="{94D850DC-2AE2-785B-22DA-72D8AD4990F8}"/>
              </a:ext>
            </a:extLst>
          </p:cNvPr>
          <p:cNvSpPr txBox="1"/>
          <p:nvPr/>
        </p:nvSpPr>
        <p:spPr>
          <a:xfrm>
            <a:off x="2215299" y="2626265"/>
            <a:ext cx="7528773" cy="3046988"/>
          </a:xfrm>
          <a:prstGeom prst="rect">
            <a:avLst/>
          </a:prstGeom>
          <a:noFill/>
        </p:spPr>
        <p:txBody>
          <a:bodyPr wrap="square">
            <a:spAutoFit/>
          </a:bodyPr>
          <a:lstStyle/>
          <a:p>
            <a:pPr marL="0" indent="0">
              <a:buNone/>
            </a:pPr>
            <a:r>
              <a:rPr lang="en-US" sz="2400" dirty="0"/>
              <a:t>Project title:</a:t>
            </a:r>
          </a:p>
          <a:p>
            <a:pPr marL="0" indent="0" algn="ctr">
              <a:buNone/>
            </a:pPr>
            <a:r>
              <a:rPr lang="en-US" sz="2400" dirty="0"/>
              <a:t>R.E.A.D.M.L. </a:t>
            </a:r>
          </a:p>
          <a:p>
            <a:pPr marL="0" indent="0" algn="ctr">
              <a:buNone/>
            </a:pPr>
            <a:r>
              <a:rPr lang="en-US" sz="2400" dirty="0"/>
              <a:t>Resume Enhancing, Analyzing and Developing using Machine Learning</a:t>
            </a:r>
          </a:p>
          <a:p>
            <a:pPr marL="0" indent="0" algn="ctr">
              <a:buNone/>
            </a:pPr>
            <a:endParaRPr lang="en-US" sz="2400" dirty="0"/>
          </a:p>
          <a:p>
            <a:pPr marL="0" indent="0" algn="ctr">
              <a:buNone/>
            </a:pPr>
            <a:endParaRPr lang="en-US" sz="2400" dirty="0"/>
          </a:p>
          <a:p>
            <a:pPr marL="0" indent="0">
              <a:buNone/>
            </a:pPr>
            <a:r>
              <a:rPr lang="en-US" sz="2400" dirty="0"/>
              <a:t>Presented By:-</a:t>
            </a:r>
          </a:p>
          <a:p>
            <a:pPr marL="0" indent="0" algn="just">
              <a:buNone/>
            </a:pPr>
            <a:r>
              <a:rPr lang="en-US" sz="2400" dirty="0"/>
              <a:t>                     Priyanka Katta</a:t>
            </a:r>
            <a:endParaRPr lang="en-US" sz="6000" b="1" dirty="0"/>
          </a:p>
        </p:txBody>
      </p:sp>
    </p:spTree>
    <p:extLst>
      <p:ext uri="{BB962C8B-B14F-4D97-AF65-F5344CB8AC3E}">
        <p14:creationId xmlns:p14="http://schemas.microsoft.com/office/powerpoint/2010/main" val="21465722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FB11F4-3548-65AA-4187-47CED80A51B6}"/>
              </a:ext>
            </a:extLst>
          </p:cNvPr>
          <p:cNvSpPr>
            <a:spLocks noGrp="1"/>
          </p:cNvSpPr>
          <p:nvPr>
            <p:ph type="title"/>
          </p:nvPr>
        </p:nvSpPr>
        <p:spPr/>
        <p:txBody>
          <a:bodyPr>
            <a:normAutofit/>
          </a:bodyPr>
          <a:lstStyle/>
          <a:p>
            <a:r>
              <a:rPr lang="en-US" dirty="0"/>
              <a:t>Contents:-</a:t>
            </a:r>
            <a:endParaRPr lang="en-IN" dirty="0"/>
          </a:p>
        </p:txBody>
      </p:sp>
      <p:sp>
        <p:nvSpPr>
          <p:cNvPr id="3" name="Content Placeholder 2">
            <a:extLst>
              <a:ext uri="{FF2B5EF4-FFF2-40B4-BE49-F238E27FC236}">
                <a16:creationId xmlns:a16="http://schemas.microsoft.com/office/drawing/2014/main" id="{5DC138DD-88C9-7E65-D0B2-8212DEEEAFF7}"/>
              </a:ext>
            </a:extLst>
          </p:cNvPr>
          <p:cNvSpPr>
            <a:spLocks noGrp="1"/>
          </p:cNvSpPr>
          <p:nvPr>
            <p:ph idx="1"/>
          </p:nvPr>
        </p:nvSpPr>
        <p:spPr/>
        <p:txBody>
          <a:bodyPr/>
          <a:lstStyle/>
          <a:p>
            <a:r>
              <a:rPr lang="en-US" dirty="0"/>
              <a:t>1. what is resume?</a:t>
            </a:r>
          </a:p>
          <a:p>
            <a:r>
              <a:rPr lang="en-US" dirty="0"/>
              <a:t>2. Resume Enhancing</a:t>
            </a:r>
          </a:p>
          <a:p>
            <a:r>
              <a:rPr lang="en-US" dirty="0"/>
              <a:t>3. Resume Analysis </a:t>
            </a:r>
          </a:p>
          <a:p>
            <a:r>
              <a:rPr lang="en-US" dirty="0"/>
              <a:t>4. Resume Development</a:t>
            </a:r>
          </a:p>
          <a:p>
            <a:r>
              <a:rPr lang="en-US" dirty="0"/>
              <a:t>5. Used Languages</a:t>
            </a:r>
          </a:p>
          <a:p>
            <a:r>
              <a:rPr lang="en-US" dirty="0"/>
              <a:t>6. ATS Score</a:t>
            </a:r>
          </a:p>
          <a:p>
            <a:r>
              <a:rPr lang="en-US" dirty="0"/>
              <a:t>7. Project Features</a:t>
            </a:r>
          </a:p>
          <a:p>
            <a:r>
              <a:rPr lang="en-US" dirty="0"/>
              <a:t>8. Advantages and Disadvantages</a:t>
            </a:r>
          </a:p>
          <a:p>
            <a:r>
              <a:rPr lang="en-US" dirty="0"/>
              <a:t>9. Conclusion</a:t>
            </a:r>
            <a:endParaRPr lang="en-IN" dirty="0"/>
          </a:p>
        </p:txBody>
      </p:sp>
    </p:spTree>
    <p:extLst>
      <p:ext uri="{BB962C8B-B14F-4D97-AF65-F5344CB8AC3E}">
        <p14:creationId xmlns:p14="http://schemas.microsoft.com/office/powerpoint/2010/main" val="40586765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793993-CF0C-846F-EFF9-1E20406F894F}"/>
              </a:ext>
            </a:extLst>
          </p:cNvPr>
          <p:cNvSpPr>
            <a:spLocks noGrp="1"/>
          </p:cNvSpPr>
          <p:nvPr>
            <p:ph type="title"/>
          </p:nvPr>
        </p:nvSpPr>
        <p:spPr/>
        <p:txBody>
          <a:bodyPr/>
          <a:lstStyle/>
          <a:p>
            <a:r>
              <a:rPr lang="en-US" dirty="0"/>
              <a:t>What is a resume ?</a:t>
            </a:r>
            <a:endParaRPr lang="en-IN" dirty="0"/>
          </a:p>
        </p:txBody>
      </p:sp>
      <p:sp>
        <p:nvSpPr>
          <p:cNvPr id="3" name="Content Placeholder 2">
            <a:extLst>
              <a:ext uri="{FF2B5EF4-FFF2-40B4-BE49-F238E27FC236}">
                <a16:creationId xmlns:a16="http://schemas.microsoft.com/office/drawing/2014/main" id="{1C18A3B6-99F0-4597-D186-422233F05885}"/>
              </a:ext>
            </a:extLst>
          </p:cNvPr>
          <p:cNvSpPr>
            <a:spLocks noGrp="1"/>
          </p:cNvSpPr>
          <p:nvPr>
            <p:ph idx="1"/>
          </p:nvPr>
        </p:nvSpPr>
        <p:spPr>
          <a:xfrm>
            <a:off x="577646" y="736054"/>
            <a:ext cx="10131425" cy="3649133"/>
          </a:xfrm>
        </p:spPr>
        <p:txBody>
          <a:bodyPr>
            <a:normAutofit/>
          </a:bodyPr>
          <a:lstStyle/>
          <a:p>
            <a:endParaRPr lang="en-US" sz="2400" dirty="0"/>
          </a:p>
          <a:p>
            <a:endParaRPr lang="en-US" sz="2400" dirty="0"/>
          </a:p>
          <a:p>
            <a:pPr marL="0" indent="0">
              <a:buNone/>
            </a:pPr>
            <a:r>
              <a:rPr lang="en-US" sz="2400" dirty="0"/>
              <a:t>                     A resume is a formal document that summarizes an individual's professional qualifications, skills, and experiences, typically used to apply for jobs. It's a marketing tool designed to showcase why a candidate is suitable for a specific role and to secure an interview. Resumes usually include sections for work experience, education, skills, and other relevant qualifications. </a:t>
            </a:r>
            <a:endParaRPr lang="en-IN" sz="2400" dirty="0"/>
          </a:p>
        </p:txBody>
      </p:sp>
    </p:spTree>
    <p:extLst>
      <p:ext uri="{BB962C8B-B14F-4D97-AF65-F5344CB8AC3E}">
        <p14:creationId xmlns:p14="http://schemas.microsoft.com/office/powerpoint/2010/main" val="5377604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059754-F806-BB7B-59CD-0143B3DDB2B6}"/>
              </a:ext>
            </a:extLst>
          </p:cNvPr>
          <p:cNvSpPr>
            <a:spLocks noGrp="1"/>
          </p:cNvSpPr>
          <p:nvPr>
            <p:ph type="title"/>
          </p:nvPr>
        </p:nvSpPr>
        <p:spPr/>
        <p:txBody>
          <a:bodyPr/>
          <a:lstStyle/>
          <a:p>
            <a:r>
              <a:rPr lang="en-US" dirty="0"/>
              <a:t>Resume enhancing :-</a:t>
            </a:r>
            <a:endParaRPr lang="en-IN" dirty="0"/>
          </a:p>
        </p:txBody>
      </p:sp>
      <p:sp>
        <p:nvSpPr>
          <p:cNvPr id="3" name="Content Placeholder 2">
            <a:extLst>
              <a:ext uri="{FF2B5EF4-FFF2-40B4-BE49-F238E27FC236}">
                <a16:creationId xmlns:a16="http://schemas.microsoft.com/office/drawing/2014/main" id="{BA2538D7-9E94-3AD6-E496-11CC7870A13D}"/>
              </a:ext>
            </a:extLst>
          </p:cNvPr>
          <p:cNvSpPr>
            <a:spLocks noGrp="1"/>
          </p:cNvSpPr>
          <p:nvPr>
            <p:ph idx="1"/>
          </p:nvPr>
        </p:nvSpPr>
        <p:spPr>
          <a:xfrm>
            <a:off x="528485" y="1143001"/>
            <a:ext cx="10131425" cy="3649133"/>
          </a:xfrm>
        </p:spPr>
        <p:txBody>
          <a:bodyPr/>
          <a:lstStyle/>
          <a:p>
            <a:r>
              <a:rPr lang="en-US" sz="2400" dirty="0"/>
              <a:t>Resume enhancing involves improving the content and structure of a resume to better reflect a candidate's qualifications. This can include using action verbs, quantifying achievements, tailoring the resume for specific jobs, and ensuring a clean, professional design</a:t>
            </a:r>
            <a:r>
              <a:rPr lang="en-US" dirty="0"/>
              <a:t>.</a:t>
            </a:r>
            <a:endParaRPr lang="en-IN" dirty="0"/>
          </a:p>
        </p:txBody>
      </p:sp>
    </p:spTree>
    <p:extLst>
      <p:ext uri="{BB962C8B-B14F-4D97-AF65-F5344CB8AC3E}">
        <p14:creationId xmlns:p14="http://schemas.microsoft.com/office/powerpoint/2010/main" val="32705919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EE1223-DF90-4126-1E03-08ADD222E848}"/>
              </a:ext>
            </a:extLst>
          </p:cNvPr>
          <p:cNvSpPr>
            <a:spLocks noGrp="1"/>
          </p:cNvSpPr>
          <p:nvPr>
            <p:ph type="title"/>
          </p:nvPr>
        </p:nvSpPr>
        <p:spPr/>
        <p:txBody>
          <a:bodyPr/>
          <a:lstStyle/>
          <a:p>
            <a:r>
              <a:rPr lang="en-US" dirty="0"/>
              <a:t>Resume analysis :-</a:t>
            </a:r>
            <a:endParaRPr lang="en-IN" dirty="0"/>
          </a:p>
        </p:txBody>
      </p:sp>
      <p:sp>
        <p:nvSpPr>
          <p:cNvPr id="3" name="Content Placeholder 2">
            <a:extLst>
              <a:ext uri="{FF2B5EF4-FFF2-40B4-BE49-F238E27FC236}">
                <a16:creationId xmlns:a16="http://schemas.microsoft.com/office/drawing/2014/main" id="{9DDAC794-E5C5-427E-9815-788913EA26C5}"/>
              </a:ext>
            </a:extLst>
          </p:cNvPr>
          <p:cNvSpPr>
            <a:spLocks noGrp="1"/>
          </p:cNvSpPr>
          <p:nvPr>
            <p:ph idx="1"/>
          </p:nvPr>
        </p:nvSpPr>
        <p:spPr>
          <a:xfrm>
            <a:off x="498988" y="1337733"/>
            <a:ext cx="10131425" cy="3649133"/>
          </a:xfrm>
        </p:spPr>
        <p:txBody>
          <a:bodyPr/>
          <a:lstStyle/>
          <a:p>
            <a:r>
              <a:rPr lang="en-US" sz="2400" dirty="0"/>
              <a:t>Resume analysis refers to evaluating a resume to identify strengths, weaknesses, and areas for improvement. This can be done manually or with software tools that check grammar, keywords, formatting, and overall readability</a:t>
            </a:r>
            <a:r>
              <a:rPr lang="en-US" dirty="0"/>
              <a:t>.</a:t>
            </a:r>
            <a:endParaRPr lang="en-IN" dirty="0"/>
          </a:p>
        </p:txBody>
      </p:sp>
    </p:spTree>
    <p:extLst>
      <p:ext uri="{BB962C8B-B14F-4D97-AF65-F5344CB8AC3E}">
        <p14:creationId xmlns:p14="http://schemas.microsoft.com/office/powerpoint/2010/main" val="6329408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72B6F9-D52C-7FB3-15F6-202F2E84DEF5}"/>
              </a:ext>
            </a:extLst>
          </p:cNvPr>
          <p:cNvSpPr>
            <a:spLocks noGrp="1"/>
          </p:cNvSpPr>
          <p:nvPr>
            <p:ph type="title"/>
          </p:nvPr>
        </p:nvSpPr>
        <p:spPr/>
        <p:txBody>
          <a:bodyPr/>
          <a:lstStyle/>
          <a:p>
            <a:r>
              <a:rPr lang="en-US" dirty="0"/>
              <a:t>What is development :-</a:t>
            </a:r>
            <a:endParaRPr lang="en-IN" dirty="0"/>
          </a:p>
        </p:txBody>
      </p:sp>
      <p:sp>
        <p:nvSpPr>
          <p:cNvPr id="3" name="Content Placeholder 2">
            <a:extLst>
              <a:ext uri="{FF2B5EF4-FFF2-40B4-BE49-F238E27FC236}">
                <a16:creationId xmlns:a16="http://schemas.microsoft.com/office/drawing/2014/main" id="{FA56FDAD-8A55-A912-0A94-D59D5CF93826}"/>
              </a:ext>
            </a:extLst>
          </p:cNvPr>
          <p:cNvSpPr>
            <a:spLocks noGrp="1"/>
          </p:cNvSpPr>
          <p:nvPr>
            <p:ph idx="1"/>
          </p:nvPr>
        </p:nvSpPr>
        <p:spPr>
          <a:xfrm>
            <a:off x="508821" y="1337733"/>
            <a:ext cx="10131425" cy="3649133"/>
          </a:xfrm>
        </p:spPr>
        <p:txBody>
          <a:bodyPr>
            <a:normAutofit/>
          </a:bodyPr>
          <a:lstStyle/>
          <a:p>
            <a:r>
              <a:rPr lang="en-US" sz="2400" dirty="0"/>
              <a:t>Resume development is the process of creating a resume from scratch or significantly revamping an existing one. It involves researching job descriptions, selecting appropriate formats, organizing content effectively, and writing persuasive statements that align with career goals.</a:t>
            </a:r>
            <a:endParaRPr lang="en-IN" sz="2400" dirty="0"/>
          </a:p>
        </p:txBody>
      </p:sp>
    </p:spTree>
    <p:extLst>
      <p:ext uri="{BB962C8B-B14F-4D97-AF65-F5344CB8AC3E}">
        <p14:creationId xmlns:p14="http://schemas.microsoft.com/office/powerpoint/2010/main" val="32258373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C7A3D8-29AC-BDB6-68B8-3BBFD33EC761}"/>
              </a:ext>
            </a:extLst>
          </p:cNvPr>
          <p:cNvSpPr>
            <a:spLocks noGrp="1"/>
          </p:cNvSpPr>
          <p:nvPr>
            <p:ph type="title"/>
          </p:nvPr>
        </p:nvSpPr>
        <p:spPr/>
        <p:txBody>
          <a:bodyPr/>
          <a:lstStyle/>
          <a:p>
            <a:r>
              <a:rPr lang="en-US" dirty="0"/>
              <a:t>Used languages :-</a:t>
            </a:r>
            <a:endParaRPr lang="en-IN" dirty="0"/>
          </a:p>
        </p:txBody>
      </p:sp>
      <p:sp>
        <p:nvSpPr>
          <p:cNvPr id="3" name="Content Placeholder 2">
            <a:extLst>
              <a:ext uri="{FF2B5EF4-FFF2-40B4-BE49-F238E27FC236}">
                <a16:creationId xmlns:a16="http://schemas.microsoft.com/office/drawing/2014/main" id="{7BB1B5CE-7AE4-9C46-49E0-F0D0C67C976C}"/>
              </a:ext>
            </a:extLst>
          </p:cNvPr>
          <p:cNvSpPr>
            <a:spLocks noGrp="1"/>
          </p:cNvSpPr>
          <p:nvPr>
            <p:ph idx="1"/>
          </p:nvPr>
        </p:nvSpPr>
        <p:spPr/>
        <p:txBody>
          <a:bodyPr>
            <a:noAutofit/>
          </a:bodyPr>
          <a:lstStyle/>
          <a:p>
            <a:r>
              <a:rPr lang="en-IN" sz="2400" dirty="0"/>
              <a:t>Common programming or markup languages used in resume analysis and development tools include:</a:t>
            </a:r>
          </a:p>
          <a:p>
            <a:endParaRPr lang="en-IN" sz="2400" dirty="0"/>
          </a:p>
          <a:p>
            <a:r>
              <a:rPr lang="en-IN" sz="2400" dirty="0"/>
              <a:t>HTML/CSS – for web-based resume templates</a:t>
            </a:r>
          </a:p>
          <a:p>
            <a:endParaRPr lang="en-IN" sz="2400" dirty="0"/>
          </a:p>
          <a:p>
            <a:r>
              <a:rPr lang="en-IN" sz="2400" dirty="0"/>
              <a:t>Python – for building resume parsers and ATS checkers</a:t>
            </a:r>
          </a:p>
          <a:p>
            <a:endParaRPr lang="en-IN" sz="2400" dirty="0"/>
          </a:p>
          <a:p>
            <a:r>
              <a:rPr lang="en-IN" sz="2400" dirty="0"/>
              <a:t>Machine Learning - </a:t>
            </a:r>
            <a:r>
              <a:rPr lang="en-US" sz="2400" dirty="0"/>
              <a:t>Machine Learning (ML) is used in the field of resume screening and recruitment to automate and enhance hiring processes</a:t>
            </a:r>
            <a:endParaRPr lang="en-IN" sz="2400" dirty="0"/>
          </a:p>
        </p:txBody>
      </p:sp>
    </p:spTree>
    <p:extLst>
      <p:ext uri="{BB962C8B-B14F-4D97-AF65-F5344CB8AC3E}">
        <p14:creationId xmlns:p14="http://schemas.microsoft.com/office/powerpoint/2010/main" val="35545096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170AAD-485A-79DF-65BC-233920C46C66}"/>
              </a:ext>
            </a:extLst>
          </p:cNvPr>
          <p:cNvSpPr>
            <a:spLocks noGrp="1"/>
          </p:cNvSpPr>
          <p:nvPr>
            <p:ph type="title"/>
          </p:nvPr>
        </p:nvSpPr>
        <p:spPr/>
        <p:txBody>
          <a:bodyPr/>
          <a:lstStyle/>
          <a:p>
            <a:r>
              <a:rPr lang="en-US" dirty="0"/>
              <a:t>ATS Score :-</a:t>
            </a:r>
            <a:endParaRPr lang="en-IN" dirty="0"/>
          </a:p>
        </p:txBody>
      </p:sp>
      <p:sp>
        <p:nvSpPr>
          <p:cNvPr id="3" name="Content Placeholder 2">
            <a:extLst>
              <a:ext uri="{FF2B5EF4-FFF2-40B4-BE49-F238E27FC236}">
                <a16:creationId xmlns:a16="http://schemas.microsoft.com/office/drawing/2014/main" id="{97D25BD7-9152-F28D-851B-DD02658ABDB0}"/>
              </a:ext>
            </a:extLst>
          </p:cNvPr>
          <p:cNvSpPr>
            <a:spLocks noGrp="1"/>
          </p:cNvSpPr>
          <p:nvPr>
            <p:ph idx="1"/>
          </p:nvPr>
        </p:nvSpPr>
        <p:spPr>
          <a:xfrm>
            <a:off x="538317" y="1257164"/>
            <a:ext cx="10131425" cy="3649133"/>
          </a:xfrm>
        </p:spPr>
        <p:txBody>
          <a:bodyPr/>
          <a:lstStyle/>
          <a:p>
            <a:r>
              <a:rPr lang="en-US" sz="2400" dirty="0"/>
              <a:t>The ATS (Applicant Tracking System) score measures how well a resume matches a job description. ATS software scans resumes for relevant keywords, formatting, and structure. A higher score indicates a better chance of passing through automated screening systems used by employers</a:t>
            </a:r>
            <a:r>
              <a:rPr lang="en-US" dirty="0"/>
              <a:t>.</a:t>
            </a:r>
            <a:endParaRPr lang="en-IN" dirty="0"/>
          </a:p>
        </p:txBody>
      </p:sp>
    </p:spTree>
    <p:extLst>
      <p:ext uri="{BB962C8B-B14F-4D97-AF65-F5344CB8AC3E}">
        <p14:creationId xmlns:p14="http://schemas.microsoft.com/office/powerpoint/2010/main" val="18634477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7AAEB0-C09C-D146-E1F6-70EF71B4A5B4}"/>
              </a:ext>
            </a:extLst>
          </p:cNvPr>
          <p:cNvSpPr>
            <a:spLocks noGrp="1"/>
          </p:cNvSpPr>
          <p:nvPr>
            <p:ph type="title"/>
          </p:nvPr>
        </p:nvSpPr>
        <p:spPr/>
        <p:txBody>
          <a:bodyPr/>
          <a:lstStyle/>
          <a:p>
            <a:r>
              <a:rPr lang="en-US" dirty="0"/>
              <a:t>Project features :-</a:t>
            </a:r>
            <a:endParaRPr lang="en-IN" dirty="0"/>
          </a:p>
        </p:txBody>
      </p:sp>
      <p:sp>
        <p:nvSpPr>
          <p:cNvPr id="3" name="Content Placeholder 2">
            <a:extLst>
              <a:ext uri="{FF2B5EF4-FFF2-40B4-BE49-F238E27FC236}">
                <a16:creationId xmlns:a16="http://schemas.microsoft.com/office/drawing/2014/main" id="{DE9B3686-F076-96E9-9C5A-8CBCC04D87C7}"/>
              </a:ext>
            </a:extLst>
          </p:cNvPr>
          <p:cNvSpPr>
            <a:spLocks noGrp="1"/>
          </p:cNvSpPr>
          <p:nvPr>
            <p:ph idx="1"/>
          </p:nvPr>
        </p:nvSpPr>
        <p:spPr/>
        <p:txBody>
          <a:bodyPr>
            <a:normAutofit/>
          </a:bodyPr>
          <a:lstStyle/>
          <a:p>
            <a:r>
              <a:rPr lang="en-US" sz="2400" dirty="0"/>
              <a:t>PDF generation with custom formatting</a:t>
            </a:r>
          </a:p>
          <a:p>
            <a:r>
              <a:rPr lang="en-US" sz="2400" dirty="0"/>
              <a:t>Resume parsing and analysis</a:t>
            </a:r>
          </a:p>
          <a:p>
            <a:r>
              <a:rPr lang="en-US" sz="2400" dirty="0"/>
              <a:t>Real-time AI feedback</a:t>
            </a:r>
          </a:p>
          <a:p>
            <a:r>
              <a:rPr lang="en-US" sz="2400" dirty="0"/>
              <a:t>Multi-page support</a:t>
            </a:r>
          </a:p>
          <a:p>
            <a:r>
              <a:rPr lang="en-US" sz="2400" dirty="0"/>
              <a:t>Responsive design</a:t>
            </a:r>
          </a:p>
          <a:p>
            <a:endParaRPr lang="en-IN" dirty="0"/>
          </a:p>
        </p:txBody>
      </p:sp>
    </p:spTree>
    <p:extLst>
      <p:ext uri="{BB962C8B-B14F-4D97-AF65-F5344CB8AC3E}">
        <p14:creationId xmlns:p14="http://schemas.microsoft.com/office/powerpoint/2010/main" val="6708315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5BC815-08C0-20FD-00EA-91803418C989}"/>
              </a:ext>
            </a:extLst>
          </p:cNvPr>
          <p:cNvSpPr>
            <a:spLocks noGrp="1"/>
          </p:cNvSpPr>
          <p:nvPr>
            <p:ph type="title"/>
          </p:nvPr>
        </p:nvSpPr>
        <p:spPr/>
        <p:txBody>
          <a:bodyPr/>
          <a:lstStyle/>
          <a:p>
            <a:r>
              <a:rPr lang="en-US" dirty="0"/>
              <a:t>Advantages and disadvantages :-</a:t>
            </a:r>
            <a:endParaRPr lang="en-IN" dirty="0"/>
          </a:p>
        </p:txBody>
      </p:sp>
      <p:sp>
        <p:nvSpPr>
          <p:cNvPr id="3" name="Text Placeholder 2">
            <a:extLst>
              <a:ext uri="{FF2B5EF4-FFF2-40B4-BE49-F238E27FC236}">
                <a16:creationId xmlns:a16="http://schemas.microsoft.com/office/drawing/2014/main" id="{B6CA6213-909F-1DC2-5763-96CC8E5D7C3D}"/>
              </a:ext>
            </a:extLst>
          </p:cNvPr>
          <p:cNvSpPr>
            <a:spLocks noGrp="1"/>
          </p:cNvSpPr>
          <p:nvPr>
            <p:ph type="body" idx="1"/>
          </p:nvPr>
        </p:nvSpPr>
        <p:spPr/>
        <p:txBody>
          <a:bodyPr/>
          <a:lstStyle/>
          <a:p>
            <a:r>
              <a:rPr lang="en-US" dirty="0"/>
              <a:t>Advantages :-</a:t>
            </a:r>
            <a:endParaRPr lang="en-IN" dirty="0"/>
          </a:p>
        </p:txBody>
      </p:sp>
      <p:sp>
        <p:nvSpPr>
          <p:cNvPr id="4" name="Content Placeholder 3">
            <a:extLst>
              <a:ext uri="{FF2B5EF4-FFF2-40B4-BE49-F238E27FC236}">
                <a16:creationId xmlns:a16="http://schemas.microsoft.com/office/drawing/2014/main" id="{6F8725F8-661C-42B5-9F89-C1F8176DBC7D}"/>
              </a:ext>
            </a:extLst>
          </p:cNvPr>
          <p:cNvSpPr>
            <a:spLocks noGrp="1"/>
          </p:cNvSpPr>
          <p:nvPr>
            <p:ph sz="half" idx="2"/>
          </p:nvPr>
        </p:nvSpPr>
        <p:spPr/>
        <p:txBody>
          <a:bodyPr>
            <a:normAutofit fontScale="92500" lnSpcReduction="10000"/>
          </a:bodyPr>
          <a:lstStyle/>
          <a:p>
            <a:pPr marL="0" indent="0">
              <a:buNone/>
            </a:pPr>
            <a:endParaRPr lang="en-US" dirty="0"/>
          </a:p>
          <a:p>
            <a:r>
              <a:rPr lang="en-US" dirty="0"/>
              <a:t>Saves time in job applications</a:t>
            </a:r>
          </a:p>
          <a:p>
            <a:endParaRPr lang="en-US" dirty="0"/>
          </a:p>
          <a:p>
            <a:r>
              <a:rPr lang="en-US" dirty="0"/>
              <a:t>Highlights relevant skills effectively</a:t>
            </a:r>
          </a:p>
          <a:p>
            <a:endParaRPr lang="en-US" dirty="0"/>
          </a:p>
          <a:p>
            <a:r>
              <a:rPr lang="en-US" dirty="0"/>
              <a:t>Increases chances of getting noticed</a:t>
            </a:r>
          </a:p>
          <a:p>
            <a:endParaRPr lang="en-US" dirty="0"/>
          </a:p>
          <a:p>
            <a:r>
              <a:rPr lang="en-US" dirty="0"/>
              <a:t>Customizable and reusable</a:t>
            </a:r>
            <a:endParaRPr lang="en-IN" dirty="0"/>
          </a:p>
        </p:txBody>
      </p:sp>
      <p:sp>
        <p:nvSpPr>
          <p:cNvPr id="5" name="Text Placeholder 4">
            <a:extLst>
              <a:ext uri="{FF2B5EF4-FFF2-40B4-BE49-F238E27FC236}">
                <a16:creationId xmlns:a16="http://schemas.microsoft.com/office/drawing/2014/main" id="{BCDA1C95-49F3-10B9-94D3-76D7A2BD4BFA}"/>
              </a:ext>
            </a:extLst>
          </p:cNvPr>
          <p:cNvSpPr>
            <a:spLocks noGrp="1"/>
          </p:cNvSpPr>
          <p:nvPr>
            <p:ph type="body" sz="quarter" idx="3"/>
          </p:nvPr>
        </p:nvSpPr>
        <p:spPr/>
        <p:txBody>
          <a:bodyPr/>
          <a:lstStyle/>
          <a:p>
            <a:r>
              <a:rPr lang="en-US" dirty="0"/>
              <a:t>Disadvantages :-</a:t>
            </a:r>
            <a:endParaRPr lang="en-IN" dirty="0"/>
          </a:p>
        </p:txBody>
      </p:sp>
      <p:sp>
        <p:nvSpPr>
          <p:cNvPr id="6" name="Content Placeholder 5">
            <a:extLst>
              <a:ext uri="{FF2B5EF4-FFF2-40B4-BE49-F238E27FC236}">
                <a16:creationId xmlns:a16="http://schemas.microsoft.com/office/drawing/2014/main" id="{1DCE359D-4998-B6F4-3687-4193188DD579}"/>
              </a:ext>
            </a:extLst>
          </p:cNvPr>
          <p:cNvSpPr>
            <a:spLocks noGrp="1"/>
          </p:cNvSpPr>
          <p:nvPr>
            <p:ph sz="quarter" idx="4"/>
          </p:nvPr>
        </p:nvSpPr>
        <p:spPr/>
        <p:txBody>
          <a:bodyPr>
            <a:normAutofit fontScale="92500" lnSpcReduction="10000"/>
          </a:bodyPr>
          <a:lstStyle/>
          <a:p>
            <a:pPr marL="0" indent="0">
              <a:buNone/>
            </a:pPr>
            <a:endParaRPr lang="en-US" dirty="0"/>
          </a:p>
          <a:p>
            <a:r>
              <a:rPr lang="en-US" dirty="0"/>
              <a:t> Generic templates may not stand out</a:t>
            </a:r>
          </a:p>
          <a:p>
            <a:endParaRPr lang="en-US" dirty="0"/>
          </a:p>
          <a:p>
            <a:r>
              <a:rPr lang="en-US" dirty="0"/>
              <a:t>Can be filtered out by ATS if not optimized</a:t>
            </a:r>
          </a:p>
          <a:p>
            <a:endParaRPr lang="en-US" dirty="0"/>
          </a:p>
          <a:p>
            <a:r>
              <a:rPr lang="en-US" dirty="0"/>
              <a:t>Over-enhancing may lead to exaggeration or inaccuracies</a:t>
            </a:r>
            <a:endParaRPr lang="en-IN" dirty="0"/>
          </a:p>
        </p:txBody>
      </p:sp>
    </p:spTree>
    <p:extLst>
      <p:ext uri="{BB962C8B-B14F-4D97-AF65-F5344CB8AC3E}">
        <p14:creationId xmlns:p14="http://schemas.microsoft.com/office/powerpoint/2010/main" val="36843314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BF9DB83-B6D4-A15B-9FF9-574E96B30207}"/>
              </a:ext>
            </a:extLst>
          </p:cNvPr>
          <p:cNvSpPr>
            <a:spLocks noGrp="1"/>
          </p:cNvSpPr>
          <p:nvPr>
            <p:ph type="title"/>
          </p:nvPr>
        </p:nvSpPr>
        <p:spPr/>
        <p:txBody>
          <a:bodyPr/>
          <a:lstStyle/>
          <a:p>
            <a:r>
              <a:rPr lang="en-US" dirty="0"/>
              <a:t>Conclusion :-</a:t>
            </a:r>
            <a:endParaRPr lang="en-IN" dirty="0"/>
          </a:p>
        </p:txBody>
      </p:sp>
      <p:sp>
        <p:nvSpPr>
          <p:cNvPr id="8" name="Content Placeholder 7">
            <a:extLst>
              <a:ext uri="{FF2B5EF4-FFF2-40B4-BE49-F238E27FC236}">
                <a16:creationId xmlns:a16="http://schemas.microsoft.com/office/drawing/2014/main" id="{49A307C8-D497-A38D-5E3C-3CE8F38A8433}"/>
              </a:ext>
            </a:extLst>
          </p:cNvPr>
          <p:cNvSpPr>
            <a:spLocks noGrp="1"/>
          </p:cNvSpPr>
          <p:nvPr>
            <p:ph idx="1"/>
          </p:nvPr>
        </p:nvSpPr>
        <p:spPr>
          <a:xfrm>
            <a:off x="548149" y="1719279"/>
            <a:ext cx="10131425" cy="3649133"/>
          </a:xfrm>
        </p:spPr>
        <p:txBody>
          <a:bodyPr>
            <a:normAutofit/>
          </a:bodyPr>
          <a:lstStyle/>
          <a:p>
            <a:r>
              <a:rPr lang="en-US" sz="2400" dirty="0"/>
              <a:t>A well-crafted resume is crucial in today's competitive job market. With the use of technology and proper strategies, resumes can be optimized for both human and machine readers. Continuous development, analysis, and enhancement significantly improve a candidate’s chance of landing interviews.</a:t>
            </a:r>
            <a:endParaRPr lang="en-IN" sz="2400" dirty="0"/>
          </a:p>
        </p:txBody>
      </p:sp>
    </p:spTree>
    <p:extLst>
      <p:ext uri="{BB962C8B-B14F-4D97-AF65-F5344CB8AC3E}">
        <p14:creationId xmlns:p14="http://schemas.microsoft.com/office/powerpoint/2010/main" val="101148153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elestial">
  <a:themeElements>
    <a:clrScheme name="Celestial">
      <a:dk1>
        <a:sysClr val="windowText" lastClr="000000"/>
      </a:dk1>
      <a:lt1>
        <a:sysClr val="window" lastClr="FFFFFF"/>
      </a:lt1>
      <a:dk2>
        <a:srgbClr val="18276C"/>
      </a:dk2>
      <a:lt2>
        <a:srgbClr val="EBEBEB"/>
      </a:lt2>
      <a:accent1>
        <a:srgbClr val="AC3EC1"/>
      </a:accent1>
      <a:accent2>
        <a:srgbClr val="477BD1"/>
      </a:accent2>
      <a:accent3>
        <a:srgbClr val="46B298"/>
      </a:accent3>
      <a:accent4>
        <a:srgbClr val="90BA4C"/>
      </a:accent4>
      <a:accent5>
        <a:srgbClr val="DD9D31"/>
      </a:accent5>
      <a:accent6>
        <a:srgbClr val="E25247"/>
      </a:accent6>
      <a:hlink>
        <a:srgbClr val="C573D2"/>
      </a:hlink>
      <a:folHlink>
        <a:srgbClr val="CCAEE8"/>
      </a:folHlink>
    </a:clrScheme>
    <a:fontScheme name="Celestial">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Celestial" id="{C4BB2A3D-0E93-4C5F-B0D2-9D3FCE089CC5}" vid="{42E5908D-19A2-46FD-89FA-638B126129EF}"/>
    </a:ext>
  </a:extLst>
</a:theme>
</file>

<file path=docProps/app.xml><?xml version="1.0" encoding="utf-8"?>
<Properties xmlns="http://schemas.openxmlformats.org/officeDocument/2006/extended-properties" xmlns:vt="http://schemas.openxmlformats.org/officeDocument/2006/docPropsVTypes">
  <Template>{E6936F99-8535-4ED2-8947-5A12B4AEC22B}tf03457452</Template>
  <TotalTime>92</TotalTime>
  <Words>541</Words>
  <Application>Microsoft Office PowerPoint</Application>
  <PresentationFormat>Widescreen</PresentationFormat>
  <Paragraphs>65</Paragraphs>
  <Slides>11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Calibri Light</vt:lpstr>
      <vt:lpstr>Celestial</vt:lpstr>
      <vt:lpstr> NAAC ACCREDITED &amp; ISO 9001:2015 CERTIFIED Institute    VVP INSTITUTE OF ENGINEERING &amp; TECHNOLOGY, SOLAPUR   (Approved by AICTE, DTE, Mumbai &amp; Affiliated to Dbatu ,Lonare)      </vt:lpstr>
      <vt:lpstr>Contents:-</vt:lpstr>
      <vt:lpstr>What is a resume ?</vt:lpstr>
      <vt:lpstr>Resume enhancing :-</vt:lpstr>
      <vt:lpstr>Resume analysis :-</vt:lpstr>
      <vt:lpstr>What is development :-</vt:lpstr>
      <vt:lpstr>Used languages :-</vt:lpstr>
      <vt:lpstr>ATS Score :-</vt:lpstr>
      <vt:lpstr>Project features :-</vt:lpstr>
      <vt:lpstr>Advantages and disadvantages :-</vt:lpstr>
      <vt:lpstr>Conclusion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Aishwarya Chidgumpi</dc:creator>
  <cp:lastModifiedBy>Akash Mushan</cp:lastModifiedBy>
  <cp:revision>2</cp:revision>
  <dcterms:created xsi:type="dcterms:W3CDTF">2025-06-18T06:35:13Z</dcterms:created>
  <dcterms:modified xsi:type="dcterms:W3CDTF">2025-09-12T05:41:47Z</dcterms:modified>
</cp:coreProperties>
</file>